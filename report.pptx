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 fontScale="56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Для правки </a:t>
            </a:r>
            <a:r>
              <a:rPr b="0" lang="ru-RU" sz="4400" spc="-1" strike="noStrike">
                <a:latin typeface="Arial"/>
              </a:rPr>
              <a:t>текста </a:t>
            </a:r>
            <a:r>
              <a:rPr b="0" lang="ru-RU" sz="4400" spc="-1" strike="noStrike">
                <a:latin typeface="Arial"/>
              </a:rPr>
              <a:t>заглавия </a:t>
            </a:r>
            <a:r>
              <a:rPr b="0" lang="ru-RU" sz="4400" spc="-1" strike="noStrike">
                <a:latin typeface="Arial"/>
              </a:rPr>
              <a:t>щёлкните </a:t>
            </a:r>
            <a:r>
              <a:rPr b="0" lang="ru-RU" sz="4400" spc="-1" strike="noStrike">
                <a:latin typeface="Arial"/>
              </a:rPr>
              <a:t>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432360" y="428760"/>
            <a:ext cx="9070560" cy="187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Modeling Within-Host Dynamics of Inﬂuenza Virus Infection Including</a:t>
            </a:r>
            <a:br/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Immune Responses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360360" y="196776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Autors:</a:t>
            </a:r>
            <a:endParaRPr b="0" lang="ru-RU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Kasia A. Pawelek (University of South Carolina Beaufort)</a:t>
            </a:r>
            <a:endParaRPr b="0" lang="ru-RU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Giao T. Huynh's (Oakland University)</a:t>
            </a:r>
            <a:endParaRPr b="0" lang="ru-RU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Michelle Quinlivan (Irish Equine Centre)</a:t>
            </a:r>
            <a:endParaRPr b="0" lang="ru-RU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Ann Cullinane (Irish Equine Centre)</a:t>
            </a:r>
            <a:endParaRPr b="0" lang="ru-RU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Libin Rong (Oakland University)</a:t>
            </a:r>
            <a:endParaRPr b="0" lang="ru-RU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Alan S Perelson (Los Alamos National Laboratory)</a:t>
            </a:r>
            <a:endParaRPr b="0" lang="ru-RU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3168000" y="4961160"/>
            <a:ext cx="4619880" cy="137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DejaVu Sans"/>
              </a:rPr>
              <a:t>PLOS Computational Biology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Цель работы: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endParaRPr b="0" lang="ru-RU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endParaRPr b="0" lang="ru-RU" sz="1800" spc="-1" strike="noStrike">
              <a:latin typeface="Arial"/>
            </a:endParaRPr>
          </a:p>
          <a:p>
            <a:pPr marL="432000" indent="-32292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DejaVu Sans"/>
              </a:rPr>
              <a:t>Исследовать, какие биологические параметры могут привести к изменению вирусной нагрузки, наблюдаемому при не осложненной вирусной инфекции гриппа.</a:t>
            </a:r>
            <a:endParaRPr b="0" lang="ru-RU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endParaRPr b="0" lang="ru-RU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Гипотеза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648000" y="12960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DejaVu Sans"/>
              </a:rPr>
              <a:t>Врожденное иммунный ответ, такой как убийство инфицированных клеток, опосредованное естественными клетками-киллерами (NK клетки), и противовирусный эффект интерферона ((в основном IFN-a/b), могут объяснить первое быстрое снижение вирусной активности и последующую вторую пиковую виремию, а также то, что адаптивный иммунный ответ (CD8+ Т-клетки)  необходим для окончательного удаления вируса.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Данные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0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DejaVu Sans"/>
              </a:rPr>
              <a:t>Данные были получены в результате экспериментального испытания 6 невакцинированных пони, инфицированных EIV A/eq/Kildare/89 (H3N8). Носовые выделения собирали ежедневно в течение 10 дней после вызова и количественно определяли количество копий РНК вируса гриппа на миллилитр (ml). Также были собраны образцы крови для количественной оценки кратных изменений экспрессии цитокинов, включая IFN, в течение 1-5 дней после вызова по сравнению с днем, предшествующим вызову. 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4000" spc="-1" strike="noStrike">
                <a:solidFill>
                  <a:srgbClr val="000000"/>
                </a:solidFill>
                <a:latin typeface="Arial"/>
                <a:ea typeface="DejaVu Sans"/>
              </a:rPr>
              <a:t>Основные предположения модели: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После того, как рецептор не инфицированной клетки провзаимодействовал с интерфероном, клетка переходит в защищенное состояние.</a:t>
            </a:r>
            <a:endParaRPr b="0" lang="ru-RU" sz="1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Количество активированных NK-клеток пропорционально уровню IFN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rcRect l="0" t="5399" r="54592" b="56584"/>
          <a:stretch/>
        </p:blipFill>
        <p:spPr>
          <a:xfrm>
            <a:off x="72360" y="72000"/>
            <a:ext cx="5636160" cy="2302920"/>
          </a:xfrm>
          <a:prstGeom prst="rect">
            <a:avLst/>
          </a:prstGeom>
          <a:ln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4104000" y="1080000"/>
            <a:ext cx="5754960" cy="4088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504000" y="1145520"/>
            <a:ext cx="3022920" cy="3749400"/>
          </a:xfrm>
          <a:prstGeom prst="rect">
            <a:avLst/>
          </a:prstGeom>
          <a:ln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4035960" y="734040"/>
            <a:ext cx="5754960" cy="4088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0" y="333360"/>
            <a:ext cx="10078560" cy="4921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rcRect l="-2258" t="0" r="0" b="25611"/>
          <a:stretch/>
        </p:blipFill>
        <p:spPr>
          <a:xfrm>
            <a:off x="432000" y="72000"/>
            <a:ext cx="4894920" cy="5531760"/>
          </a:xfrm>
          <a:prstGeom prst="rect">
            <a:avLst/>
          </a:prstGeom>
          <a:ln>
            <a:noFill/>
          </a:ln>
        </p:spPr>
      </p:pic>
      <p:sp>
        <p:nvSpPr>
          <p:cNvPr id="93" name="CustomShape 1"/>
          <p:cNvSpPr/>
          <p:nvPr/>
        </p:nvSpPr>
        <p:spPr>
          <a:xfrm>
            <a:off x="5254920" y="216000"/>
            <a:ext cx="4680000" cy="309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Наши fits фиксируют вирусный пик у всех 6 пони.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Существенное снижение вирусности в течение 1 дня после пика у всех пони.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Приступы вызывают период вирусного плато и/или второго пика.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4. Происходит быстрое второе вирусное снижение до уровня ниже предела обнаружения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у всех 6 пони. 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2"/>
          <a:srcRect l="4800" t="3276" r="9670" b="3957"/>
          <a:stretch/>
        </p:blipFill>
        <p:spPr>
          <a:xfrm>
            <a:off x="6487920" y="3240360"/>
            <a:ext cx="2943000" cy="2230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rcRect l="-1743" t="0" r="0" b="26660"/>
          <a:stretch/>
        </p:blipFill>
        <p:spPr>
          <a:xfrm>
            <a:off x="432000" y="72000"/>
            <a:ext cx="4822920" cy="5460480"/>
          </a:xfrm>
          <a:prstGeom prst="rect">
            <a:avLst/>
          </a:prstGeom>
          <a:ln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rcRect l="0" t="74775" r="48543" b="2"/>
          <a:stretch/>
        </p:blipFill>
        <p:spPr>
          <a:xfrm>
            <a:off x="6264000" y="3312000"/>
            <a:ext cx="2950920" cy="2269800"/>
          </a:xfrm>
          <a:prstGeom prst="rect">
            <a:avLst/>
          </a:prstGeom>
          <a:ln>
            <a:noFill/>
          </a:ln>
        </p:spPr>
      </p:pic>
      <p:sp>
        <p:nvSpPr>
          <p:cNvPr id="97" name="CustomShape 1"/>
          <p:cNvSpPr/>
          <p:nvPr/>
        </p:nvSpPr>
        <p:spPr>
          <a:xfrm>
            <a:off x="5481360" y="432000"/>
            <a:ext cx="4309560" cy="239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IFN достиг максимума примерно на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2-й день, а затем быстро снижается,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что согласуется с появлением вирусного плато/второго пика. Таким образом, вирусное плато и второй пик вирусного титра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могут быть объяснены потерей индуцированного IFN противовирусного эффекта.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14080" y="72000"/>
            <a:ext cx="5388840" cy="4141440"/>
          </a:xfrm>
          <a:prstGeom prst="rect">
            <a:avLst/>
          </a:prstGeom>
          <a:ln>
            <a:noFill/>
          </a:ln>
        </p:spPr>
      </p:pic>
      <p:sp>
        <p:nvSpPr>
          <p:cNvPr id="99" name="CustomShape 1"/>
          <p:cNvSpPr/>
          <p:nvPr/>
        </p:nvSpPr>
        <p:spPr>
          <a:xfrm>
            <a:off x="5904000" y="288000"/>
            <a:ext cx="3511440" cy="1881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С) Увеличение константы скорости уничтожения инфицированных клеток k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само по себе уменьшит первый вирусный пик и увеличит второй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пик.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5760000" y="2808000"/>
            <a:ext cx="4255200" cy="332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Эти тесты на чувствительность показывают, что скорость уничтожения инфицированных клеток (С) и противовирусный эффект IFN (A) во время врожденного иммунного ответа являются основными факторами, ответственными за первое быстрое вирусное снижение и последующее вирусное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плато/второй пик.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1" name="CustomShape 3"/>
          <p:cNvSpPr/>
          <p:nvPr/>
        </p:nvSpPr>
        <p:spPr>
          <a:xfrm>
            <a:off x="2891520" y="2420280"/>
            <a:ext cx="52300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288000" y="1365840"/>
            <a:ext cx="9358920" cy="345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Первое постпиковое вирусное снижение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(примерно от 2 до 4 логарифмов в течение 1 дня) может быть объяснено лизисом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инфицированные эпителиальные клетки, опосредованные цитокинами и такими клетками, как NK-клетки, во время неспецифического иммунного ответа.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Последующее вирусное плато/второй пик генерируется в нашей модели потерей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вызванного IFN противовирусного эффекта и повышенной доступностью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клеток-мишеней по мере того, как клетки теряют свое противовирусное состояние.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В нашей модели необходим специфический иммунный ответ, чтобы объяснить возможный вирусный клиренс. 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332280" y="468360"/>
            <a:ext cx="2042640" cy="61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Вывод: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432000" y="360000"/>
            <a:ext cx="5902920" cy="159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Что я узнал, выполняя эту работу?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720000" y="1584000"/>
            <a:ext cx="6478920" cy="1881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0. Закрепил знания о иммунной системе человека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Дополнил свои знания о течении гриппа в организме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Улучшил понимание систем дифференциальных уравнений при построении моделей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Узнал о роли интерферонов во время гриппа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4. Узнал о том в какой момент течения болезни следует больше отдыхать)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2021-12-09T09:13:33Z</dcterms:created>
  <dc:creator/>
  <dc:description/>
  <dc:language>ru-RU</dc:language>
  <cp:lastModifiedBy/>
  <dcterms:modified xsi:type="dcterms:W3CDTF">2022-05-03T16:49:15Z</dcterms:modified>
  <cp:revision>72</cp:revision>
  <dc:subject/>
  <dc:title/>
</cp:coreProperties>
</file>